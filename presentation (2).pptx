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League Spartan" charset="1" panose="00000800000000000000"/>
      <p:regular r:id="rId11"/>
    </p:embeddedFont>
    <p:embeddedFont>
      <p:font typeface="Roboto Bold" charset="1" panose="02000000000000000000"/>
      <p:regular r:id="rId12"/>
    </p:embeddedFont>
    <p:embeddedFont>
      <p:font typeface="Archivo Black" charset="1" panose="020B0A03020202020B04"/>
      <p:regular r:id="rId13"/>
    </p:embeddedFont>
    <p:embeddedFont>
      <p:font typeface="Roboto" charset="1" panose="02000000000000000000"/>
      <p:regular r:id="rId14"/>
    </p:embeddedFont>
    <p:embeddedFont>
      <p:font typeface="Poppins"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487806" y="3481223"/>
            <a:ext cx="9846085" cy="1418823"/>
          </a:xfrm>
          <a:prstGeom prst="rect">
            <a:avLst/>
          </a:prstGeom>
        </p:spPr>
        <p:txBody>
          <a:bodyPr anchor="t" rtlCol="false" tIns="0" lIns="0" bIns="0" rIns="0">
            <a:spAutoFit/>
          </a:bodyPr>
          <a:lstStyle/>
          <a:p>
            <a:pPr algn="ctr">
              <a:lnSpc>
                <a:spcPts val="11572"/>
              </a:lnSpc>
            </a:pPr>
            <a:r>
              <a:rPr lang="en-US" b="true" sz="8265">
                <a:solidFill>
                  <a:srgbClr val="004AAD"/>
                </a:solidFill>
                <a:latin typeface="League Spartan"/>
                <a:ea typeface="League Spartan"/>
                <a:cs typeface="League Spartan"/>
                <a:sym typeface="League Spartan"/>
              </a:rPr>
              <a:t>PRESENTATION</a:t>
            </a:r>
          </a:p>
        </p:txBody>
      </p:sp>
      <p:grpSp>
        <p:nvGrpSpPr>
          <p:cNvPr name="Group 4" id="4"/>
          <p:cNvGrpSpPr/>
          <p:nvPr/>
        </p:nvGrpSpPr>
        <p:grpSpPr>
          <a:xfrm rot="0">
            <a:off x="-1073150" y="267092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6008679" y="2157248"/>
            <a:ext cx="5641992" cy="913044"/>
          </a:xfrm>
          <a:prstGeom prst="rect">
            <a:avLst/>
          </a:prstGeom>
        </p:spPr>
        <p:txBody>
          <a:bodyPr anchor="t" rtlCol="false" tIns="0" lIns="0" bIns="0" rIns="0">
            <a:spAutoFit/>
          </a:bodyPr>
          <a:lstStyle/>
          <a:p>
            <a:pPr algn="ctr">
              <a:lnSpc>
                <a:spcPts val="7424"/>
              </a:lnSpc>
            </a:pPr>
            <a:r>
              <a:rPr lang="en-US" b="true" sz="5303">
                <a:solidFill>
                  <a:srgbClr val="303642"/>
                </a:solidFill>
                <a:latin typeface="Roboto Bold"/>
                <a:ea typeface="Roboto Bold"/>
                <a:cs typeface="Roboto Bold"/>
                <a:sym typeface="Roboto Bold"/>
              </a:rPr>
              <a:t>TP INF461 </a:t>
            </a:r>
          </a:p>
        </p:txBody>
      </p:sp>
      <p:grpSp>
        <p:nvGrpSpPr>
          <p:cNvPr name="Group 8" id="8"/>
          <p:cNvGrpSpPr/>
          <p:nvPr/>
        </p:nvGrpSpPr>
        <p:grpSpPr>
          <a:xfrm rot="0">
            <a:off x="16067855" y="2557399"/>
            <a:ext cx="3086100" cy="2171499"/>
            <a:chOff x="0" y="0"/>
            <a:chExt cx="812800" cy="571917"/>
          </a:xfrm>
        </p:grpSpPr>
        <p:sp>
          <p:nvSpPr>
            <p:cNvPr name="Freeform 9" id="9"/>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0" id="10"/>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511026" y="7716202"/>
            <a:ext cx="7299342" cy="688974"/>
          </a:xfrm>
          <a:prstGeom prst="rect">
            <a:avLst/>
          </a:prstGeom>
        </p:spPr>
        <p:txBody>
          <a:bodyPr anchor="t" rtlCol="false" tIns="0" lIns="0" bIns="0" rIns="0">
            <a:spAutoFit/>
          </a:bodyPr>
          <a:lstStyle/>
          <a:p>
            <a:pPr algn="ctr">
              <a:lnSpc>
                <a:spcPts val="5600"/>
              </a:lnSpc>
              <a:spcBef>
                <a:spcPct val="0"/>
              </a:spcBef>
            </a:pPr>
            <a:r>
              <a:rPr lang="en-US" sz="4000">
                <a:solidFill>
                  <a:srgbClr val="000000"/>
                </a:solidFill>
                <a:latin typeface="Archivo Black"/>
                <a:ea typeface="Archivo Black"/>
                <a:cs typeface="Archivo Black"/>
                <a:sym typeface="Archivo Black"/>
              </a:rPr>
              <a:t>sous la supervision de</a:t>
            </a:r>
          </a:p>
        </p:txBody>
      </p:sp>
      <p:sp>
        <p:nvSpPr>
          <p:cNvPr name="TextBox 12" id="12"/>
          <p:cNvSpPr txBox="true"/>
          <p:nvPr/>
        </p:nvSpPr>
        <p:spPr>
          <a:xfrm rot="0">
            <a:off x="12767889" y="9191625"/>
            <a:ext cx="3528566" cy="457836"/>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Archivo Black"/>
                <a:ea typeface="Archivo Black"/>
                <a:cs typeface="Archivo Black"/>
                <a:sym typeface="Archivo Black"/>
              </a:rPr>
              <a:t>Mr Kemtho Zidanne</a:t>
            </a:r>
          </a:p>
        </p:txBody>
      </p:sp>
      <p:sp>
        <p:nvSpPr>
          <p:cNvPr name="TextBox 13" id="13"/>
          <p:cNvSpPr txBox="true"/>
          <p:nvPr/>
        </p:nvSpPr>
        <p:spPr>
          <a:xfrm rot="0">
            <a:off x="1633612" y="7865744"/>
            <a:ext cx="3247876" cy="715011"/>
          </a:xfrm>
          <a:prstGeom prst="rect">
            <a:avLst/>
          </a:prstGeom>
        </p:spPr>
        <p:txBody>
          <a:bodyPr anchor="t" rtlCol="false" tIns="0" lIns="0" bIns="0" rIns="0">
            <a:spAutoFit/>
          </a:bodyPr>
          <a:lstStyle/>
          <a:p>
            <a:pPr algn="ctr">
              <a:lnSpc>
                <a:spcPts val="5739"/>
              </a:lnSpc>
              <a:spcBef>
                <a:spcPct val="0"/>
              </a:spcBef>
            </a:pPr>
            <a:r>
              <a:rPr lang="en-US" sz="4099">
                <a:solidFill>
                  <a:srgbClr val="000000"/>
                </a:solidFill>
                <a:latin typeface="Archivo Black"/>
                <a:ea typeface="Archivo Black"/>
                <a:cs typeface="Archivo Black"/>
                <a:sym typeface="Archivo Black"/>
              </a:rPr>
              <a:t>redigé par  </a:t>
            </a:r>
          </a:p>
        </p:txBody>
      </p:sp>
      <p:sp>
        <p:nvSpPr>
          <p:cNvPr name="TextBox 14" id="14"/>
          <p:cNvSpPr txBox="true"/>
          <p:nvPr/>
        </p:nvSpPr>
        <p:spPr>
          <a:xfrm rot="0">
            <a:off x="1553213" y="9220835"/>
            <a:ext cx="2934593" cy="457836"/>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Archivo Black"/>
                <a:ea typeface="Archivo Black"/>
                <a:cs typeface="Archivo Black"/>
                <a:sym typeface="Archivo Black"/>
              </a:rPr>
              <a:t>Kamga Marilane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2969937"/>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67950" y="320675"/>
            <a:ext cx="6294884" cy="9674225"/>
            <a:chOff x="0" y="0"/>
            <a:chExt cx="1657912" cy="2547944"/>
          </a:xfrm>
        </p:grpSpPr>
        <p:sp>
          <p:nvSpPr>
            <p:cNvPr name="Freeform 7" id="7"/>
            <p:cNvSpPr/>
            <p:nvPr/>
          </p:nvSpPr>
          <p:spPr>
            <a:xfrm flipH="false" flipV="false" rot="0">
              <a:off x="0" y="0"/>
              <a:ext cx="1657912" cy="2547944"/>
            </a:xfrm>
            <a:custGeom>
              <a:avLst/>
              <a:gdLst/>
              <a:ahLst/>
              <a:cxnLst/>
              <a:rect r="r" b="b" t="t" l="l"/>
              <a:pathLst>
                <a:path h="2547944" w="1657912">
                  <a:moveTo>
                    <a:pt x="62724" y="0"/>
                  </a:moveTo>
                  <a:lnTo>
                    <a:pt x="1595188" y="0"/>
                  </a:lnTo>
                  <a:cubicBezTo>
                    <a:pt x="1611824" y="0"/>
                    <a:pt x="1627778" y="6608"/>
                    <a:pt x="1639541" y="18371"/>
                  </a:cubicBezTo>
                  <a:cubicBezTo>
                    <a:pt x="1651304" y="30134"/>
                    <a:pt x="1657912" y="46088"/>
                    <a:pt x="1657912" y="62724"/>
                  </a:cubicBezTo>
                  <a:lnTo>
                    <a:pt x="1657912" y="2485220"/>
                  </a:lnTo>
                  <a:cubicBezTo>
                    <a:pt x="1657912" y="2501856"/>
                    <a:pt x="1651304" y="2517810"/>
                    <a:pt x="1639541" y="2529573"/>
                  </a:cubicBezTo>
                  <a:cubicBezTo>
                    <a:pt x="1627778" y="2541336"/>
                    <a:pt x="1611824" y="2547944"/>
                    <a:pt x="1595188" y="2547944"/>
                  </a:cubicBezTo>
                  <a:lnTo>
                    <a:pt x="62724" y="2547944"/>
                  </a:lnTo>
                  <a:cubicBezTo>
                    <a:pt x="46088" y="2547944"/>
                    <a:pt x="30134" y="2541336"/>
                    <a:pt x="18371" y="2529573"/>
                  </a:cubicBezTo>
                  <a:cubicBezTo>
                    <a:pt x="6608" y="2517810"/>
                    <a:pt x="0" y="2501856"/>
                    <a:pt x="0" y="2485220"/>
                  </a:cubicBezTo>
                  <a:lnTo>
                    <a:pt x="0" y="62724"/>
                  </a:lnTo>
                  <a:cubicBezTo>
                    <a:pt x="0" y="46088"/>
                    <a:pt x="6608" y="30134"/>
                    <a:pt x="18371" y="18371"/>
                  </a:cubicBezTo>
                  <a:cubicBezTo>
                    <a:pt x="30134" y="6608"/>
                    <a:pt x="46088" y="0"/>
                    <a:pt x="62724" y="0"/>
                  </a:cubicBezTo>
                  <a:close/>
                </a:path>
              </a:pathLst>
            </a:custGeom>
            <a:solidFill>
              <a:srgbClr val="004AAD"/>
            </a:solidFill>
          </p:spPr>
        </p:sp>
        <p:sp>
          <p:nvSpPr>
            <p:cNvPr name="TextBox 8" id="8"/>
            <p:cNvSpPr txBox="true"/>
            <p:nvPr/>
          </p:nvSpPr>
          <p:spPr>
            <a:xfrm>
              <a:off x="0" y="-47625"/>
              <a:ext cx="1657912" cy="259556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1726528"/>
            <a:ext cx="5872155"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CREATION</a:t>
            </a:r>
          </a:p>
        </p:txBody>
      </p:sp>
      <p:sp>
        <p:nvSpPr>
          <p:cNvPr name="TextBox 10" id="10"/>
          <p:cNvSpPr txBox="true"/>
          <p:nvPr/>
        </p:nvSpPr>
        <p:spPr>
          <a:xfrm rot="0">
            <a:off x="1028700" y="914400"/>
            <a:ext cx="5634574"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LES PATRONS DE</a:t>
            </a:r>
          </a:p>
        </p:txBody>
      </p:sp>
      <p:grpSp>
        <p:nvGrpSpPr>
          <p:cNvPr name="Group 11" id="11"/>
          <p:cNvGrpSpPr/>
          <p:nvPr/>
        </p:nvGrpSpPr>
        <p:grpSpPr>
          <a:xfrm rot="0">
            <a:off x="9591430" y="657998"/>
            <a:ext cx="1353040" cy="135304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591430" y="2553767"/>
            <a:ext cx="1353040" cy="135304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579259" y="4544982"/>
            <a:ext cx="1353040" cy="135304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9674509" y="877037"/>
            <a:ext cx="1186882" cy="961948"/>
          </a:xfrm>
          <a:prstGeom prst="rect">
            <a:avLst/>
          </a:prstGeom>
        </p:spPr>
        <p:txBody>
          <a:bodyPr anchor="t" rtlCol="false" tIns="0" lIns="0" bIns="0" rIns="0">
            <a:spAutoFit/>
          </a:bodyPr>
          <a:lstStyle/>
          <a:p>
            <a:pPr algn="ctr">
              <a:lnSpc>
                <a:spcPts val="7968"/>
              </a:lnSpc>
            </a:pPr>
            <a:r>
              <a:rPr lang="en-US" sz="5691">
                <a:solidFill>
                  <a:srgbClr val="000000"/>
                </a:solidFill>
                <a:latin typeface="League Spartan"/>
                <a:ea typeface="League Spartan"/>
                <a:cs typeface="League Spartan"/>
                <a:sym typeface="League Spartan"/>
              </a:rPr>
              <a:t>1</a:t>
            </a:r>
          </a:p>
        </p:txBody>
      </p:sp>
      <p:sp>
        <p:nvSpPr>
          <p:cNvPr name="TextBox 21" id="21"/>
          <p:cNvSpPr txBox="true"/>
          <p:nvPr/>
        </p:nvSpPr>
        <p:spPr>
          <a:xfrm rot="0">
            <a:off x="9674509" y="2765908"/>
            <a:ext cx="1186882" cy="961948"/>
          </a:xfrm>
          <a:prstGeom prst="rect">
            <a:avLst/>
          </a:prstGeom>
        </p:spPr>
        <p:txBody>
          <a:bodyPr anchor="t" rtlCol="false" tIns="0" lIns="0" bIns="0" rIns="0">
            <a:spAutoFit/>
          </a:bodyPr>
          <a:lstStyle/>
          <a:p>
            <a:pPr algn="ctr">
              <a:lnSpc>
                <a:spcPts val="7968"/>
              </a:lnSpc>
            </a:pPr>
            <a:r>
              <a:rPr lang="en-US" b="true" sz="5691">
                <a:solidFill>
                  <a:srgbClr val="000000"/>
                </a:solidFill>
                <a:latin typeface="League Spartan"/>
                <a:ea typeface="League Spartan"/>
                <a:cs typeface="League Spartan"/>
                <a:sym typeface="League Spartan"/>
              </a:rPr>
              <a:t>2</a:t>
            </a:r>
          </a:p>
        </p:txBody>
      </p:sp>
      <p:sp>
        <p:nvSpPr>
          <p:cNvPr name="TextBox 22" id="22"/>
          <p:cNvSpPr txBox="true"/>
          <p:nvPr/>
        </p:nvSpPr>
        <p:spPr>
          <a:xfrm rot="0">
            <a:off x="9662338" y="4757525"/>
            <a:ext cx="1186882" cy="961948"/>
          </a:xfrm>
          <a:prstGeom prst="rect">
            <a:avLst/>
          </a:prstGeom>
        </p:spPr>
        <p:txBody>
          <a:bodyPr anchor="t" rtlCol="false" tIns="0" lIns="0" bIns="0" rIns="0">
            <a:spAutoFit/>
          </a:bodyPr>
          <a:lstStyle/>
          <a:p>
            <a:pPr algn="ctr">
              <a:lnSpc>
                <a:spcPts val="7968"/>
              </a:lnSpc>
            </a:pPr>
            <a:r>
              <a:rPr lang="en-US" sz="5691">
                <a:solidFill>
                  <a:srgbClr val="000000"/>
                </a:solidFill>
                <a:latin typeface="League Spartan"/>
                <a:ea typeface="League Spartan"/>
                <a:cs typeface="League Spartan"/>
                <a:sym typeface="League Spartan"/>
              </a:rPr>
              <a:t>3</a:t>
            </a:r>
          </a:p>
        </p:txBody>
      </p:sp>
      <p:sp>
        <p:nvSpPr>
          <p:cNvPr name="TextBox 23" id="23"/>
          <p:cNvSpPr txBox="true"/>
          <p:nvPr/>
        </p:nvSpPr>
        <p:spPr>
          <a:xfrm rot="0">
            <a:off x="11309261" y="905612"/>
            <a:ext cx="4856091" cy="709747"/>
          </a:xfrm>
          <a:prstGeom prst="rect">
            <a:avLst/>
          </a:prstGeom>
        </p:spPr>
        <p:txBody>
          <a:bodyPr anchor="t" rtlCol="false" tIns="0" lIns="0" bIns="0" rIns="0">
            <a:spAutoFit/>
          </a:bodyPr>
          <a:lstStyle/>
          <a:p>
            <a:pPr algn="l">
              <a:lnSpc>
                <a:spcPts val="5505"/>
              </a:lnSpc>
              <a:spcBef>
                <a:spcPct val="0"/>
              </a:spcBef>
            </a:pPr>
            <a:r>
              <a:rPr lang="en-US" sz="3932">
                <a:solidFill>
                  <a:srgbClr val="FFFFFF"/>
                </a:solidFill>
                <a:latin typeface="Poppins"/>
                <a:ea typeface="Poppins"/>
                <a:cs typeface="Poppins"/>
                <a:sym typeface="Poppins"/>
              </a:rPr>
              <a:t>FACTORY</a:t>
            </a:r>
          </a:p>
        </p:txBody>
      </p:sp>
      <p:sp>
        <p:nvSpPr>
          <p:cNvPr name="TextBox 24" id="24"/>
          <p:cNvSpPr txBox="true"/>
          <p:nvPr/>
        </p:nvSpPr>
        <p:spPr>
          <a:xfrm rot="0">
            <a:off x="11252111" y="2707139"/>
            <a:ext cx="5253574" cy="709747"/>
          </a:xfrm>
          <a:prstGeom prst="rect">
            <a:avLst/>
          </a:prstGeom>
        </p:spPr>
        <p:txBody>
          <a:bodyPr anchor="t" rtlCol="false" tIns="0" lIns="0" bIns="0" rIns="0">
            <a:spAutoFit/>
          </a:bodyPr>
          <a:lstStyle/>
          <a:p>
            <a:pPr algn="l">
              <a:lnSpc>
                <a:spcPts val="5505"/>
              </a:lnSpc>
              <a:spcBef>
                <a:spcPct val="0"/>
              </a:spcBef>
            </a:pPr>
            <a:r>
              <a:rPr lang="en-US" sz="3932">
                <a:solidFill>
                  <a:srgbClr val="FFFFFF"/>
                </a:solidFill>
                <a:latin typeface="Poppins"/>
                <a:ea typeface="Poppins"/>
                <a:cs typeface="Poppins"/>
                <a:sym typeface="Poppins"/>
              </a:rPr>
              <a:t>ABSTRACT FACTORY</a:t>
            </a:r>
          </a:p>
        </p:txBody>
      </p:sp>
      <p:sp>
        <p:nvSpPr>
          <p:cNvPr name="TextBox 25" id="25"/>
          <p:cNvSpPr txBox="true"/>
          <p:nvPr/>
        </p:nvSpPr>
        <p:spPr>
          <a:xfrm rot="0">
            <a:off x="11252111" y="4748000"/>
            <a:ext cx="4856091" cy="1060267"/>
          </a:xfrm>
          <a:prstGeom prst="rect">
            <a:avLst/>
          </a:prstGeom>
        </p:spPr>
        <p:txBody>
          <a:bodyPr anchor="t" rtlCol="false" tIns="0" lIns="0" bIns="0" rIns="0">
            <a:spAutoFit/>
          </a:bodyPr>
          <a:lstStyle/>
          <a:p>
            <a:pPr algn="l">
              <a:lnSpc>
                <a:spcPts val="5505"/>
              </a:lnSpc>
            </a:pPr>
            <a:r>
              <a:rPr lang="en-US" sz="3932">
                <a:solidFill>
                  <a:srgbClr val="FFFFFF"/>
                </a:solidFill>
                <a:latin typeface="Poppins"/>
                <a:ea typeface="Poppins"/>
                <a:cs typeface="Poppins"/>
                <a:sym typeface="Poppins"/>
              </a:rPr>
              <a:t>SINGLETON</a:t>
            </a:r>
          </a:p>
          <a:p>
            <a:pPr algn="l">
              <a:lnSpc>
                <a:spcPts val="2565"/>
              </a:lnSpc>
              <a:spcBef>
                <a:spcPct val="0"/>
              </a:spcBef>
            </a:pPr>
          </a:p>
        </p:txBody>
      </p:sp>
      <p:grpSp>
        <p:nvGrpSpPr>
          <p:cNvPr name="Group 26" id="26"/>
          <p:cNvGrpSpPr/>
          <p:nvPr/>
        </p:nvGrpSpPr>
        <p:grpSpPr>
          <a:xfrm rot="0">
            <a:off x="9579259" y="6602872"/>
            <a:ext cx="1353040" cy="135304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662338" y="6815415"/>
            <a:ext cx="1186882" cy="961948"/>
          </a:xfrm>
          <a:prstGeom prst="rect">
            <a:avLst/>
          </a:prstGeom>
        </p:spPr>
        <p:txBody>
          <a:bodyPr anchor="t" rtlCol="false" tIns="0" lIns="0" bIns="0" rIns="0">
            <a:spAutoFit/>
          </a:bodyPr>
          <a:lstStyle/>
          <a:p>
            <a:pPr algn="ctr">
              <a:lnSpc>
                <a:spcPts val="7968"/>
              </a:lnSpc>
            </a:pPr>
            <a:r>
              <a:rPr lang="en-US" sz="5691">
                <a:solidFill>
                  <a:srgbClr val="000000"/>
                </a:solidFill>
                <a:latin typeface="League Spartan"/>
                <a:ea typeface="League Spartan"/>
                <a:cs typeface="League Spartan"/>
                <a:sym typeface="League Spartan"/>
              </a:rPr>
              <a:t>4</a:t>
            </a:r>
          </a:p>
        </p:txBody>
      </p:sp>
      <p:sp>
        <p:nvSpPr>
          <p:cNvPr name="TextBox 30" id="30"/>
          <p:cNvSpPr txBox="true"/>
          <p:nvPr/>
        </p:nvSpPr>
        <p:spPr>
          <a:xfrm rot="0">
            <a:off x="11175911" y="6805890"/>
            <a:ext cx="4856091" cy="709747"/>
          </a:xfrm>
          <a:prstGeom prst="rect">
            <a:avLst/>
          </a:prstGeom>
        </p:spPr>
        <p:txBody>
          <a:bodyPr anchor="t" rtlCol="false" tIns="0" lIns="0" bIns="0" rIns="0">
            <a:spAutoFit/>
          </a:bodyPr>
          <a:lstStyle/>
          <a:p>
            <a:pPr algn="l">
              <a:lnSpc>
                <a:spcPts val="5505"/>
              </a:lnSpc>
              <a:spcBef>
                <a:spcPct val="0"/>
              </a:spcBef>
            </a:pPr>
            <a:r>
              <a:rPr lang="en-US" sz="3932">
                <a:solidFill>
                  <a:srgbClr val="FFFFFF"/>
                </a:solidFill>
                <a:latin typeface="Poppins"/>
                <a:ea typeface="Poppins"/>
                <a:cs typeface="Poppins"/>
                <a:sym typeface="Poppins"/>
              </a:rPr>
              <a:t>BUILDER</a:t>
            </a:r>
          </a:p>
        </p:txBody>
      </p:sp>
      <p:grpSp>
        <p:nvGrpSpPr>
          <p:cNvPr name="Group 31" id="31"/>
          <p:cNvGrpSpPr/>
          <p:nvPr/>
        </p:nvGrpSpPr>
        <p:grpSpPr>
          <a:xfrm rot="0">
            <a:off x="9579259" y="8470655"/>
            <a:ext cx="1353040" cy="1353040"/>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3" id="3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9662338" y="8683198"/>
            <a:ext cx="1186882" cy="961948"/>
          </a:xfrm>
          <a:prstGeom prst="rect">
            <a:avLst/>
          </a:prstGeom>
        </p:spPr>
        <p:txBody>
          <a:bodyPr anchor="t" rtlCol="false" tIns="0" lIns="0" bIns="0" rIns="0">
            <a:spAutoFit/>
          </a:bodyPr>
          <a:lstStyle/>
          <a:p>
            <a:pPr algn="ctr">
              <a:lnSpc>
                <a:spcPts val="7968"/>
              </a:lnSpc>
            </a:pPr>
            <a:r>
              <a:rPr lang="en-US" sz="5691">
                <a:solidFill>
                  <a:srgbClr val="000000"/>
                </a:solidFill>
                <a:latin typeface="League Spartan"/>
                <a:ea typeface="League Spartan"/>
                <a:cs typeface="League Spartan"/>
                <a:sym typeface="League Spartan"/>
              </a:rPr>
              <a:t>5</a:t>
            </a:r>
          </a:p>
        </p:txBody>
      </p:sp>
      <p:sp>
        <p:nvSpPr>
          <p:cNvPr name="TextBox 35" id="35"/>
          <p:cNvSpPr txBox="true"/>
          <p:nvPr/>
        </p:nvSpPr>
        <p:spPr>
          <a:xfrm rot="0">
            <a:off x="11214011" y="8702248"/>
            <a:ext cx="4856091" cy="709747"/>
          </a:xfrm>
          <a:prstGeom prst="rect">
            <a:avLst/>
          </a:prstGeom>
        </p:spPr>
        <p:txBody>
          <a:bodyPr anchor="t" rtlCol="false" tIns="0" lIns="0" bIns="0" rIns="0">
            <a:spAutoFit/>
          </a:bodyPr>
          <a:lstStyle/>
          <a:p>
            <a:pPr algn="l">
              <a:lnSpc>
                <a:spcPts val="5505"/>
              </a:lnSpc>
              <a:spcBef>
                <a:spcPct val="0"/>
              </a:spcBef>
            </a:pPr>
            <a:r>
              <a:rPr lang="en-US" sz="3932">
                <a:solidFill>
                  <a:srgbClr val="FFFFFF"/>
                </a:solidFill>
                <a:latin typeface="Poppins"/>
                <a:ea typeface="Poppins"/>
                <a:cs typeface="Poppins"/>
                <a:sym typeface="Poppins"/>
              </a:rPr>
              <a:t>PROTOTYPE</a:t>
            </a:r>
          </a:p>
        </p:txBody>
      </p:sp>
      <p:sp>
        <p:nvSpPr>
          <p:cNvPr name="TextBox 36" id="36"/>
          <p:cNvSpPr txBox="true"/>
          <p:nvPr/>
        </p:nvSpPr>
        <p:spPr>
          <a:xfrm rot="0">
            <a:off x="1028700" y="3849657"/>
            <a:ext cx="7658100" cy="2277111"/>
          </a:xfrm>
          <a:prstGeom prst="rect">
            <a:avLst/>
          </a:prstGeom>
        </p:spPr>
        <p:txBody>
          <a:bodyPr anchor="t" rtlCol="false" tIns="0" lIns="0" bIns="0" rIns="0">
            <a:spAutoFit/>
          </a:bodyPr>
          <a:lstStyle/>
          <a:p>
            <a:pPr algn="l">
              <a:lnSpc>
                <a:spcPts val="3639"/>
              </a:lnSpc>
              <a:spcBef>
                <a:spcPct val="0"/>
              </a:spcBef>
            </a:pPr>
            <a:r>
              <a:rPr lang="en-US" sz="2599">
                <a:solidFill>
                  <a:srgbClr val="000000"/>
                </a:solidFill>
                <a:latin typeface="Roboto"/>
                <a:ea typeface="Roboto"/>
                <a:cs typeface="Roboto"/>
                <a:sym typeface="Roboto"/>
              </a:rPr>
              <a:t>Ils ont pour vocation d’organiser la creation des objets, organiser la création d’objets. Un système qui les utilise devient indépendantde la façon dont les objets sont crées et, enparticulier, des mécanismes d'instanciationdes classes concrètes.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187332" y="2689489"/>
            <a:ext cx="15976718" cy="7346486"/>
          </a:xfrm>
          <a:custGeom>
            <a:avLst/>
            <a:gdLst/>
            <a:ahLst/>
            <a:cxnLst/>
            <a:rect r="r" b="b" t="t" l="l"/>
            <a:pathLst>
              <a:path h="7346486" w="15976718">
                <a:moveTo>
                  <a:pt x="0" y="0"/>
                </a:moveTo>
                <a:lnTo>
                  <a:pt x="15976718" y="0"/>
                </a:lnTo>
                <a:lnTo>
                  <a:pt x="15976718" y="7346486"/>
                </a:lnTo>
                <a:lnTo>
                  <a:pt x="0" y="7346486"/>
                </a:lnTo>
                <a:lnTo>
                  <a:pt x="0" y="0"/>
                </a:lnTo>
                <a:close/>
              </a:path>
            </a:pathLst>
          </a:custGeom>
          <a:blipFill>
            <a:blip r:embed="rId3"/>
            <a:stretch>
              <a:fillRect l="0" t="0" r="0" b="0"/>
            </a:stretch>
          </a:blipFill>
        </p:spPr>
      </p:sp>
      <p:sp>
        <p:nvSpPr>
          <p:cNvPr name="TextBox 4" id="4"/>
          <p:cNvSpPr txBox="true"/>
          <p:nvPr/>
        </p:nvSpPr>
        <p:spPr>
          <a:xfrm rot="0">
            <a:off x="1028700" y="1681184"/>
            <a:ext cx="4243380"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FACTORY</a:t>
            </a:r>
          </a:p>
        </p:txBody>
      </p:sp>
      <p:sp>
        <p:nvSpPr>
          <p:cNvPr name="TextBox 5" id="5"/>
          <p:cNvSpPr txBox="true"/>
          <p:nvPr/>
        </p:nvSpPr>
        <p:spPr>
          <a:xfrm rot="0">
            <a:off x="1028700" y="914400"/>
            <a:ext cx="4842085"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LE PATRON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5723" y="2501989"/>
            <a:ext cx="17925100" cy="2641511"/>
            <a:chOff x="0" y="0"/>
            <a:chExt cx="4721014" cy="695707"/>
          </a:xfrm>
        </p:grpSpPr>
        <p:sp>
          <p:nvSpPr>
            <p:cNvPr name="Freeform 4" id="4"/>
            <p:cNvSpPr/>
            <p:nvPr/>
          </p:nvSpPr>
          <p:spPr>
            <a:xfrm flipH="false" flipV="false" rot="0">
              <a:off x="0" y="0"/>
              <a:ext cx="4721014" cy="695707"/>
            </a:xfrm>
            <a:custGeom>
              <a:avLst/>
              <a:gdLst/>
              <a:ahLst/>
              <a:cxnLst/>
              <a:rect r="r" b="b" t="t" l="l"/>
              <a:pathLst>
                <a:path h="695707" w="4721014">
                  <a:moveTo>
                    <a:pt x="22027" y="0"/>
                  </a:moveTo>
                  <a:lnTo>
                    <a:pt x="4698987" y="0"/>
                  </a:lnTo>
                  <a:cubicBezTo>
                    <a:pt x="4704829" y="0"/>
                    <a:pt x="4710431" y="2321"/>
                    <a:pt x="4714562" y="6452"/>
                  </a:cubicBezTo>
                  <a:cubicBezTo>
                    <a:pt x="4718693" y="10582"/>
                    <a:pt x="4721014" y="16185"/>
                    <a:pt x="4721014" y="22027"/>
                  </a:cubicBezTo>
                  <a:lnTo>
                    <a:pt x="4721014" y="673680"/>
                  </a:lnTo>
                  <a:cubicBezTo>
                    <a:pt x="4721014" y="679522"/>
                    <a:pt x="4718693" y="685124"/>
                    <a:pt x="4714562" y="689255"/>
                  </a:cubicBezTo>
                  <a:cubicBezTo>
                    <a:pt x="4710431" y="693386"/>
                    <a:pt x="4704829" y="695707"/>
                    <a:pt x="4698987" y="695707"/>
                  </a:cubicBezTo>
                  <a:lnTo>
                    <a:pt x="22027" y="695707"/>
                  </a:lnTo>
                  <a:cubicBezTo>
                    <a:pt x="16185" y="695707"/>
                    <a:pt x="10582" y="693386"/>
                    <a:pt x="6452" y="689255"/>
                  </a:cubicBezTo>
                  <a:cubicBezTo>
                    <a:pt x="2321" y="685124"/>
                    <a:pt x="0" y="679522"/>
                    <a:pt x="0" y="673680"/>
                  </a:cubicBezTo>
                  <a:lnTo>
                    <a:pt x="0" y="22027"/>
                  </a:lnTo>
                  <a:cubicBezTo>
                    <a:pt x="0" y="16185"/>
                    <a:pt x="2321" y="10582"/>
                    <a:pt x="6452" y="6452"/>
                  </a:cubicBezTo>
                  <a:cubicBezTo>
                    <a:pt x="10582" y="2321"/>
                    <a:pt x="16185" y="0"/>
                    <a:pt x="22027" y="0"/>
                  </a:cubicBezTo>
                  <a:close/>
                </a:path>
              </a:pathLst>
            </a:custGeom>
            <a:solidFill>
              <a:srgbClr val="004AAD"/>
            </a:solidFill>
          </p:spPr>
        </p:sp>
        <p:sp>
          <p:nvSpPr>
            <p:cNvPr name="TextBox 5" id="5"/>
            <p:cNvSpPr txBox="true"/>
            <p:nvPr/>
          </p:nvSpPr>
          <p:spPr>
            <a:xfrm>
              <a:off x="0" y="-47625"/>
              <a:ext cx="4721014" cy="74333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77178" y="1149595"/>
            <a:ext cx="14339417" cy="967259"/>
          </a:xfrm>
          <a:prstGeom prst="rect">
            <a:avLst/>
          </a:prstGeom>
        </p:spPr>
        <p:txBody>
          <a:bodyPr anchor="t" rtlCol="false" tIns="0" lIns="0" bIns="0" rIns="0">
            <a:spAutoFit/>
          </a:bodyPr>
          <a:lstStyle/>
          <a:p>
            <a:pPr algn="ctr">
              <a:lnSpc>
                <a:spcPts val="7940"/>
              </a:lnSpc>
            </a:pPr>
            <a:r>
              <a:rPr lang="en-US" sz="5672">
                <a:solidFill>
                  <a:srgbClr val="004AAD"/>
                </a:solidFill>
                <a:latin typeface="League Spartan"/>
                <a:ea typeface="League Spartan"/>
                <a:cs typeface="League Spartan"/>
                <a:sym typeface="League Spartan"/>
              </a:rPr>
              <a:t>DESCRIPTION DU MODELE</a:t>
            </a:r>
          </a:p>
        </p:txBody>
      </p:sp>
      <p:sp>
        <p:nvSpPr>
          <p:cNvPr name="TextBox 7" id="7"/>
          <p:cNvSpPr txBox="true"/>
          <p:nvPr/>
        </p:nvSpPr>
        <p:spPr>
          <a:xfrm rot="0">
            <a:off x="-151353" y="6336846"/>
            <a:ext cx="4247608" cy="1182025"/>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C’est la classe mere dont va herititer les differents types de transport de notre systeme</a:t>
            </a:r>
          </a:p>
        </p:txBody>
      </p:sp>
      <p:sp>
        <p:nvSpPr>
          <p:cNvPr name="TextBox 8" id="8"/>
          <p:cNvSpPr txBox="true"/>
          <p:nvPr/>
        </p:nvSpPr>
        <p:spPr>
          <a:xfrm rot="0">
            <a:off x="4668869" y="6336846"/>
            <a:ext cx="4247608" cy="1182025"/>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ce sont les types de transport que nous allons utiliser dans notre systeme</a:t>
            </a:r>
          </a:p>
        </p:txBody>
      </p:sp>
      <p:sp>
        <p:nvSpPr>
          <p:cNvPr name="TextBox 9" id="9"/>
          <p:cNvSpPr txBox="true"/>
          <p:nvPr/>
        </p:nvSpPr>
        <p:spPr>
          <a:xfrm rot="0">
            <a:off x="9503483" y="6336846"/>
            <a:ext cx="4247608" cy="1182025"/>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c’est la fabrique abstraite qui fedinit la fonction de creation de produit</a:t>
            </a:r>
          </a:p>
        </p:txBody>
      </p:sp>
      <p:sp>
        <p:nvSpPr>
          <p:cNvPr name="TextBox 10" id="10"/>
          <p:cNvSpPr txBox="true"/>
          <p:nvPr/>
        </p:nvSpPr>
        <p:spPr>
          <a:xfrm rot="0">
            <a:off x="105723" y="3373936"/>
            <a:ext cx="3342911" cy="995681"/>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Roboto"/>
                <a:ea typeface="Roboto"/>
                <a:cs typeface="Roboto"/>
                <a:sym typeface="Roboto"/>
              </a:rPr>
              <a:t>INTERFACE TRANSPORT</a:t>
            </a:r>
          </a:p>
        </p:txBody>
      </p:sp>
      <p:sp>
        <p:nvSpPr>
          <p:cNvPr name="TextBox 11" id="11"/>
          <p:cNvSpPr txBox="true"/>
          <p:nvPr/>
        </p:nvSpPr>
        <p:spPr>
          <a:xfrm rot="0">
            <a:off x="4235981" y="3532231"/>
            <a:ext cx="4680496" cy="514351"/>
          </a:xfrm>
          <a:prstGeom prst="rect">
            <a:avLst/>
          </a:prstGeom>
        </p:spPr>
        <p:txBody>
          <a:bodyPr anchor="t" rtlCol="false" tIns="0" lIns="0" bIns="0" rIns="0">
            <a:spAutoFit/>
          </a:bodyPr>
          <a:lstStyle/>
          <a:p>
            <a:pPr algn="ctr">
              <a:lnSpc>
                <a:spcPts val="4199"/>
              </a:lnSpc>
              <a:spcBef>
                <a:spcPct val="0"/>
              </a:spcBef>
            </a:pPr>
            <a:r>
              <a:rPr lang="en-US" sz="2999">
                <a:solidFill>
                  <a:srgbClr val="FFFFFF"/>
                </a:solidFill>
                <a:latin typeface="Roboto"/>
                <a:ea typeface="Roboto"/>
                <a:cs typeface="Roboto"/>
                <a:sym typeface="Roboto"/>
              </a:rPr>
              <a:t>LES TYPES DE TRANSPORT</a:t>
            </a:r>
          </a:p>
        </p:txBody>
      </p:sp>
      <p:sp>
        <p:nvSpPr>
          <p:cNvPr name="TextBox 12" id="12"/>
          <p:cNvSpPr txBox="true"/>
          <p:nvPr/>
        </p:nvSpPr>
        <p:spPr>
          <a:xfrm rot="0">
            <a:off x="9503483" y="3532231"/>
            <a:ext cx="3489573" cy="1038226"/>
          </a:xfrm>
          <a:prstGeom prst="rect">
            <a:avLst/>
          </a:prstGeom>
        </p:spPr>
        <p:txBody>
          <a:bodyPr anchor="t" rtlCol="false" tIns="0" lIns="0" bIns="0" rIns="0">
            <a:spAutoFit/>
          </a:bodyPr>
          <a:lstStyle/>
          <a:p>
            <a:pPr algn="ctr">
              <a:lnSpc>
                <a:spcPts val="4199"/>
              </a:lnSpc>
              <a:spcBef>
                <a:spcPct val="0"/>
              </a:spcBef>
            </a:pPr>
            <a:r>
              <a:rPr lang="en-US" sz="2999">
                <a:solidFill>
                  <a:srgbClr val="FFFFFF"/>
                </a:solidFill>
                <a:latin typeface="Roboto"/>
                <a:ea typeface="Roboto"/>
                <a:cs typeface="Roboto"/>
                <a:sym typeface="Roboto"/>
              </a:rPr>
              <a:t>LA FABRIQUE ASTRAITE</a:t>
            </a:r>
          </a:p>
        </p:txBody>
      </p:sp>
      <p:sp>
        <p:nvSpPr>
          <p:cNvPr name="TextBox 13" id="13"/>
          <p:cNvSpPr txBox="true"/>
          <p:nvPr/>
        </p:nvSpPr>
        <p:spPr>
          <a:xfrm rot="0">
            <a:off x="14167894" y="3532231"/>
            <a:ext cx="3489573" cy="1038226"/>
          </a:xfrm>
          <a:prstGeom prst="rect">
            <a:avLst/>
          </a:prstGeom>
        </p:spPr>
        <p:txBody>
          <a:bodyPr anchor="t" rtlCol="false" tIns="0" lIns="0" bIns="0" rIns="0">
            <a:spAutoFit/>
          </a:bodyPr>
          <a:lstStyle/>
          <a:p>
            <a:pPr algn="ctr">
              <a:lnSpc>
                <a:spcPts val="4199"/>
              </a:lnSpc>
              <a:spcBef>
                <a:spcPct val="0"/>
              </a:spcBef>
            </a:pPr>
            <a:r>
              <a:rPr lang="en-US" sz="2999">
                <a:solidFill>
                  <a:srgbClr val="FFFFFF"/>
                </a:solidFill>
                <a:latin typeface="Roboto"/>
                <a:ea typeface="Roboto"/>
                <a:cs typeface="Roboto"/>
                <a:sym typeface="Roboto"/>
              </a:rPr>
              <a:t>LES FABRIQUES CONCTRES</a:t>
            </a:r>
          </a:p>
        </p:txBody>
      </p:sp>
      <p:sp>
        <p:nvSpPr>
          <p:cNvPr name="TextBox 14" id="14"/>
          <p:cNvSpPr txBox="true"/>
          <p:nvPr/>
        </p:nvSpPr>
        <p:spPr>
          <a:xfrm rot="0">
            <a:off x="14341641" y="6336846"/>
            <a:ext cx="4324892" cy="1997686"/>
          </a:xfrm>
          <a:prstGeom prst="rect">
            <a:avLst/>
          </a:prstGeom>
        </p:spPr>
        <p:txBody>
          <a:bodyPr anchor="t" rtlCol="false" tIns="0" lIns="0" bIns="0" rIns="0">
            <a:spAutoFit/>
          </a:bodyPr>
          <a:lstStyle/>
          <a:p>
            <a:pPr algn="ctr">
              <a:lnSpc>
                <a:spcPts val="3164"/>
              </a:lnSpc>
              <a:spcBef>
                <a:spcPct val="0"/>
              </a:spcBef>
            </a:pPr>
            <a:r>
              <a:rPr lang="en-US" sz="2260">
                <a:solidFill>
                  <a:srgbClr val="303642"/>
                </a:solidFill>
                <a:latin typeface="Poppins"/>
                <a:ea typeface="Poppins"/>
                <a:cs typeface="Poppins"/>
                <a:sym typeface="Poppins"/>
              </a:rPr>
              <a:t>ce sont les classes abstrestes qui herittent de notre classes meres et permettent de creer les differents types de produits de notre systeme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726528"/>
            <a:ext cx="7456429" cy="912915"/>
          </a:xfrm>
          <a:prstGeom prst="rect">
            <a:avLst/>
          </a:prstGeom>
        </p:spPr>
        <p:txBody>
          <a:bodyPr anchor="t" rtlCol="false" tIns="0" lIns="0" bIns="0" rIns="0">
            <a:spAutoFit/>
          </a:bodyPr>
          <a:lstStyle/>
          <a:p>
            <a:pPr algn="l">
              <a:lnSpc>
                <a:spcPts val="7431"/>
              </a:lnSpc>
            </a:pPr>
            <a:r>
              <a:rPr lang="en-US" sz="5308">
                <a:solidFill>
                  <a:srgbClr val="004AAD"/>
                </a:solidFill>
                <a:latin typeface="League Spartan"/>
                <a:ea typeface="League Spartan"/>
                <a:cs typeface="League Spartan"/>
                <a:sym typeface="League Spartan"/>
              </a:rPr>
              <a:t>ABSTRACT FACTORY</a:t>
            </a:r>
          </a:p>
        </p:txBody>
      </p:sp>
      <p:sp>
        <p:nvSpPr>
          <p:cNvPr name="TextBox 7" id="7"/>
          <p:cNvSpPr txBox="true"/>
          <p:nvPr/>
        </p:nvSpPr>
        <p:spPr>
          <a:xfrm rot="0">
            <a:off x="1028700" y="914400"/>
            <a:ext cx="4842085"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LE PATRON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DAG6iWU5pkY</dc:identifier>
  <dcterms:modified xsi:type="dcterms:W3CDTF">2011-08-01T06:04:30Z</dcterms:modified>
  <cp:revision>1</cp:revision>
  <dc:title>4</dc:title>
</cp:coreProperties>
</file>